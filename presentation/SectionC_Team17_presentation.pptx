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26" name="Shape 2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Introduce the team and the question in one sentence: the paper showed 3D FoJ denoising CT, cryo-ET, and point clouds — we ask WHEN it works, not whether it works.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41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42" name="Shape 42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Mechanism in three steps: independent patches, each patch becomes a junction of constant wedges, overlaps averaged. Emphasize training-free — that's the appeal vs. learned denoisers.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58" name="Shape 5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Deliberate domain design: one domain built like the prior assumes (Bentheim), two that violate it in different ways (smooth MRI, sub-patch binary). This is what makes the results a study of conditions, not just a benchmark.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7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6" name="Shape 7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Key honest finding: the released defaults never activate the inter-patch consistency terms, so the estimator is just independent wedge fits + averaging. That simple mechanism is what makes the three requirements derivable — and testable.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87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88" name="Shape 88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Before new domains we checked the released code reproduces the paper's headline ablation. It does — same monotone trend, same best patch size. Absolute offset explained by M=2 vs M=3, which the paper itself acknowledges. This validates using the released implementation for the study.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03" name="Shape 10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headline positive result. Classical filters win at 15-30% noise; once input PSNR drops below ~11 dB they either under-smooth or blur interfaces, while FoJ's regional means kill variance and keep planes intact. Boundary-F1 0.85-0.88 vs 0.54 for TV.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Shape 115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16" name="Shape 116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Failure mode one: the wedge prior is piecewise-constant, MRI tissue is smooth — so bias dominates regardless of noise. The gap narrows with noise (variance reduction helps) but never closes. Plug-and-play reconstruction confirms it's the prior, not the task.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130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1" name="Shape 131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Failure mode two, the most dramatic: geometry finer than the patch can't be partitioned by three planes, so wedge means degenerate to the global mean — output nearly flat. Even perfect structure type (binary = piecewise-constant) fails when it's below patch scale.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14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3" name="Shape 14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The synthesis slide — the plot shows the same crossover on every domain: margin flips positive around ~11 dB input, but ONLY where structure is expressible. Structure decides whether FoJ can win; noise decides when it does.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152"/>
          <p:cNvSpPr/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3" name="Shape 153"/>
          <p:cNvSpPr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Close on the honest framing: FoJ isn't better or worse overall — it has knowable conditions. The three checks let a practitioner predict the outcome before running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609600" y="92074"/>
            <a:ext cx="1097280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/>
          <p:cNvSpPr txBox="1"/>
          <p:nvPr/>
        </p:nvSpPr>
        <p:spPr>
          <a:xfrm>
            <a:off x="731519" y="1864360"/>
            <a:ext cx="10728657" cy="111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3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What Determines the Effectiveness of</a:t>
            </a:r>
          </a:p>
          <a:p>
            <a:pPr algn="ctr">
              <a:defRPr sz="38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3D Field of Junctions?</a:t>
            </a:r>
          </a:p>
        </p:txBody>
      </p:sp>
      <p:sp>
        <p:nvSpPr>
          <p:cNvPr id="21" name="Text 1"/>
          <p:cNvSpPr txBox="1"/>
          <p:nvPr/>
        </p:nvSpPr>
        <p:spPr>
          <a:xfrm>
            <a:off x="731519" y="3533229"/>
            <a:ext cx="10728657" cy="2487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2000">
                <a:solidFill>
                  <a:srgbClr val="F4A261"/>
                </a:solidFill>
              </a:defRPr>
            </a:lvl1pPr>
          </a:lstStyle>
          <a:p>
            <a:pPr/>
            <a:r>
              <a:t>A Study of Volumetric Denoising Applications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731519" y="4524442"/>
            <a:ext cx="10728657" cy="1865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pc="300" sz="1500">
                <a:solidFill>
                  <a:srgbClr val="FFFFFF"/>
                </a:solidFill>
              </a:defRPr>
            </a:lvl1pPr>
          </a:lstStyle>
          <a:p>
            <a:pPr/>
            <a:r>
              <a:t>SECTION C · TEAM 17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731519" y="4968679"/>
            <a:ext cx="10728657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C9D4E8"/>
                </a:solidFill>
              </a:defRPr>
            </a:lvl1pPr>
          </a:lstStyle>
          <a:p>
            <a:pPr/>
            <a:r>
              <a:t>Samudraneel Sarkar · Sakshi Patil · Nikhil Kumar · Manpreet Singh</a:t>
            </a:r>
          </a:p>
        </p:txBody>
      </p:sp>
      <p:sp>
        <p:nvSpPr>
          <p:cNvPr id="24" name="Text 5"/>
          <p:cNvSpPr txBox="1"/>
          <p:nvPr/>
        </p:nvSpPr>
        <p:spPr>
          <a:xfrm>
            <a:off x="731519" y="6379385"/>
            <a:ext cx="10728657" cy="1342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100">
                <a:solidFill>
                  <a:srgbClr val="8FA8C8"/>
                </a:solidFill>
              </a:defRPr>
            </a:lvl1pPr>
          </a:lstStyle>
          <a:p>
            <a:pPr/>
            <a:r>
              <a:t>github.com/samudraneel05/SectionC_Team17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0"/>
          <p:cNvSpPr txBox="1"/>
          <p:nvPr/>
        </p:nvSpPr>
        <p:spPr>
          <a:xfrm>
            <a:off x="548639" y="362634"/>
            <a:ext cx="110642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</a:defRPr>
            </a:lvl1pPr>
          </a:lstStyle>
          <a:p>
            <a:pPr/>
            <a:r>
              <a:t>BACKGROUND</a:t>
            </a:r>
          </a:p>
        </p:txBody>
      </p:sp>
      <p:sp>
        <p:nvSpPr>
          <p:cNvPr id="29" name="Text 1"/>
          <p:cNvSpPr txBox="1"/>
          <p:nvPr/>
        </p:nvSpPr>
        <p:spPr>
          <a:xfrm>
            <a:off x="548639" y="681227"/>
            <a:ext cx="1106424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3D Field of Junctions</a:t>
            </a:r>
          </a:p>
        </p:txBody>
      </p:sp>
      <p:pic>
        <p:nvPicPr>
          <p:cNvPr id="30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6647" y="1417319"/>
            <a:ext cx="10058401" cy="1573797"/>
          </a:xfrm>
          <a:prstGeom prst="rect">
            <a:avLst/>
          </a:prstGeom>
          <a:ln w="12700">
            <a:miter lim="400000"/>
          </a:ln>
        </p:spPr>
      </p:pic>
      <p:sp>
        <p:nvSpPr>
          <p:cNvPr id="31" name="Text 2"/>
          <p:cNvSpPr txBox="1"/>
          <p:nvPr/>
        </p:nvSpPr>
        <p:spPr>
          <a:xfrm>
            <a:off x="548639" y="3131864"/>
            <a:ext cx="110642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</a:defRPr>
            </a:lvl1pPr>
          </a:lstStyle>
          <a:p>
            <a:pPr/>
            <a:r>
              <a:t>Junction schematic from the original paper (Moeini et al., ECCV 2026)</a:t>
            </a:r>
          </a:p>
        </p:txBody>
      </p:sp>
      <p:sp>
        <p:nvSpPr>
          <p:cNvPr id="32" name="Shape 3"/>
          <p:cNvSpPr/>
          <p:nvPr/>
        </p:nvSpPr>
        <p:spPr>
          <a:xfrm>
            <a:off x="548640" y="3611879"/>
            <a:ext cx="3538729" cy="1965961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" name="Text 4"/>
          <p:cNvSpPr txBox="1"/>
          <p:nvPr/>
        </p:nvSpPr>
        <p:spPr>
          <a:xfrm>
            <a:off x="749807" y="3758184"/>
            <a:ext cx="3136394" cy="652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</a:defRPr>
            </a:pPr>
            <a:r>
              <a:t>Training-free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No network, no dataset, no training. The model is fit directly on the single noisy input volume.</a:t>
            </a:r>
          </a:p>
        </p:txBody>
      </p:sp>
      <p:sp>
        <p:nvSpPr>
          <p:cNvPr id="34" name="Shape 5"/>
          <p:cNvSpPr/>
          <p:nvPr/>
        </p:nvSpPr>
        <p:spPr>
          <a:xfrm>
            <a:off x="4315967" y="3611879"/>
            <a:ext cx="3538730" cy="1965961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" name="Text 6"/>
          <p:cNvSpPr txBox="1"/>
          <p:nvPr/>
        </p:nvSpPr>
        <p:spPr>
          <a:xfrm>
            <a:off x="4517135" y="3758184"/>
            <a:ext cx="3136393" cy="842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</a:defRPr>
            </a:pPr>
            <a:r>
              <a:t>Wedges per patch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Every R³ cubic patch is split by planes through one shared vertex into wedge regions; each region takes the mean of the voxels it covers.</a:t>
            </a:r>
          </a:p>
        </p:txBody>
      </p:sp>
      <p:sp>
        <p:nvSpPr>
          <p:cNvPr id="36" name="Shape 7"/>
          <p:cNvSpPr/>
          <p:nvPr/>
        </p:nvSpPr>
        <p:spPr>
          <a:xfrm>
            <a:off x="8083295" y="3611879"/>
            <a:ext cx="3538729" cy="1965961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" name="Text 8"/>
          <p:cNvSpPr txBox="1"/>
          <p:nvPr/>
        </p:nvSpPr>
        <p:spPr>
          <a:xfrm>
            <a:off x="8284464" y="3758184"/>
            <a:ext cx="3136393" cy="842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</a:defRPr>
            </a:pPr>
            <a:r>
              <a:t>Overlap averaging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Patches tile the volume on a grid. Each voxel is rendered by several patches and the outputs are averaged into the final volume.</a:t>
            </a:r>
          </a:p>
        </p:txBody>
      </p:sp>
      <p:sp>
        <p:nvSpPr>
          <p:cNvPr id="38" name="Text 9"/>
          <p:cNvSpPr txBox="1"/>
          <p:nvPr/>
        </p:nvSpPr>
        <p:spPr>
          <a:xfrm>
            <a:off x="548639" y="6213392"/>
            <a:ext cx="110642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000">
                <a:solidFill>
                  <a:srgbClr val="5E7183"/>
                </a:solidFill>
              </a:defRPr>
            </a:lvl1pPr>
          </a:lstStyle>
          <a:p>
            <a:pPr/>
            <a:r>
              <a:t>Moeini, Kim, Romberg &amp; Fridovich-Keil — released implementation used as-is</a:t>
            </a:r>
          </a:p>
        </p:txBody>
      </p:sp>
      <p:sp>
        <p:nvSpPr>
          <p:cNvPr id="39" name="Text 10"/>
          <p:cNvSpPr txBox="1"/>
          <p:nvPr/>
        </p:nvSpPr>
        <p:spPr>
          <a:xfrm>
            <a:off x="548640" y="6584188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40" name="Text 11"/>
          <p:cNvSpPr txBox="1"/>
          <p:nvPr/>
        </p:nvSpPr>
        <p:spPr>
          <a:xfrm>
            <a:off x="11277295" y="6584188"/>
            <a:ext cx="365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 txBox="1"/>
          <p:nvPr/>
        </p:nvSpPr>
        <p:spPr>
          <a:xfrm>
            <a:off x="548639" y="362634"/>
            <a:ext cx="110642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</a:defRPr>
            </a:lvl1pPr>
          </a:lstStyle>
          <a:p>
            <a:pPr/>
            <a:r>
              <a:t>MOTIVATION</a:t>
            </a:r>
          </a:p>
        </p:txBody>
      </p:sp>
      <p:sp>
        <p:nvSpPr>
          <p:cNvPr id="45" name="Text 1"/>
          <p:cNvSpPr txBox="1"/>
          <p:nvPr/>
        </p:nvSpPr>
        <p:spPr>
          <a:xfrm>
            <a:off x="548639" y="681227"/>
            <a:ext cx="1106424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Applications of 3D Field of Junctions</a:t>
            </a:r>
          </a:p>
        </p:txBody>
      </p:sp>
      <p:pic>
        <p:nvPicPr>
          <p:cNvPr id="46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48640" y="1417319"/>
            <a:ext cx="5394960" cy="2153742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ext 2"/>
          <p:cNvSpPr txBox="1"/>
          <p:nvPr/>
        </p:nvSpPr>
        <p:spPr>
          <a:xfrm>
            <a:off x="548639" y="3726224"/>
            <a:ext cx="53949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</a:defRPr>
            </a:lvl1pPr>
          </a:lstStyle>
          <a:p>
            <a:pPr/>
            <a:r>
              <a:t>Original teaser: low-dose CT, cryo-ET, point clouds</a:t>
            </a:r>
          </a:p>
        </p:txBody>
      </p:sp>
      <p:sp>
        <p:nvSpPr>
          <p:cNvPr id="48" name="Text 3"/>
          <p:cNvSpPr txBox="1"/>
          <p:nvPr/>
        </p:nvSpPr>
        <p:spPr>
          <a:xfrm>
            <a:off x="548639" y="4160520"/>
            <a:ext cx="5394962" cy="1182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77800" indent="-177800">
              <a:spcBef>
                <a:spcPts val="800"/>
              </a:spcBef>
              <a:buSzPct val="100000"/>
              <a:buChar char="•"/>
              <a:defRPr sz="1300">
                <a:solidFill>
                  <a:srgbClr val="1B2A33"/>
                </a:solidFill>
              </a:defRPr>
            </a:pPr>
            <a:r>
              <a:t>Demonstrated on sparse-view CT, cryo-electron tomography, and point-cloud denoising.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300">
                <a:solidFill>
                  <a:srgbClr val="1B2A33"/>
                </a:solidFill>
              </a:defRPr>
            </a:pPr>
            <a:r>
              <a:t>Open question: does the wedge prior transfer to volumes with different structure?</a:t>
            </a:r>
          </a:p>
          <a:p>
            <a:pPr marL="177800" indent="-177800">
              <a:spcBef>
                <a:spcPts val="800"/>
              </a:spcBef>
              <a:buSzPct val="100000"/>
              <a:buChar char="•"/>
              <a:defRPr sz="1300">
                <a:solidFill>
                  <a:srgbClr val="1B2A33"/>
                </a:solidFill>
              </a:defRPr>
            </a:pPr>
            <a:r>
              <a:t>We apply the released implementation, unchanged, to three new domains.</a:t>
            </a:r>
          </a:p>
        </p:txBody>
      </p:sp>
      <p:sp>
        <p:nvSpPr>
          <p:cNvPr id="49" name="Shape 4"/>
          <p:cNvSpPr/>
          <p:nvPr/>
        </p:nvSpPr>
        <p:spPr>
          <a:xfrm>
            <a:off x="6400800" y="1417319"/>
            <a:ext cx="5212080" cy="1371601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 w="12700">
            <a:solidFill>
              <a:srgbClr val="2E9E5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0" name="Text 5"/>
          <p:cNvSpPr txBox="1"/>
          <p:nvPr/>
        </p:nvSpPr>
        <p:spPr>
          <a:xfrm>
            <a:off x="6601968" y="1563624"/>
            <a:ext cx="4809745" cy="6521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</a:defRPr>
            </a:pPr>
            <a:r>
              <a:t>Bentheim sandstone micro-CT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Grains and pores separated by sharp interfaces, 10–35 voxels across — exactly the shape the wedge prior assumes.</a:t>
            </a:r>
          </a:p>
        </p:txBody>
      </p:sp>
      <p:sp>
        <p:nvSpPr>
          <p:cNvPr id="51" name="Shape 6"/>
          <p:cNvSpPr/>
          <p:nvPr/>
        </p:nvSpPr>
        <p:spPr>
          <a:xfrm>
            <a:off x="6400800" y="3008376"/>
            <a:ext cx="5212080" cy="1371601"/>
          </a:xfrm>
          <a:prstGeom prst="roundRect">
            <a:avLst>
              <a:gd name="adj" fmla="val 6000"/>
            </a:avLst>
          </a:prstGeom>
          <a:solidFill>
            <a:srgbClr val="FDF0EA"/>
          </a:solidFill>
          <a:ln w="12700">
            <a:solidFill>
              <a:srgbClr val="D9A0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" name="Text 7"/>
          <p:cNvSpPr txBox="1"/>
          <p:nvPr/>
        </p:nvSpPr>
        <p:spPr>
          <a:xfrm>
            <a:off x="6601968" y="3154679"/>
            <a:ext cx="4809745" cy="652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</a:defRPr>
            </a:pPr>
            <a:r>
              <a:t>BrainWeb T1 MRI phantom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Anatomical tissue has smooth gradients, not plateaus - tests the piecewise-flat assumption.</a:t>
            </a:r>
          </a:p>
        </p:txBody>
      </p:sp>
      <p:sp>
        <p:nvSpPr>
          <p:cNvPr id="53" name="Shape 8"/>
          <p:cNvSpPr/>
          <p:nvPr/>
        </p:nvSpPr>
        <p:spPr>
          <a:xfrm>
            <a:off x="6400800" y="4599432"/>
            <a:ext cx="5212080" cy="1371601"/>
          </a:xfrm>
          <a:prstGeom prst="roundRect">
            <a:avLst>
              <a:gd name="adj" fmla="val 6000"/>
            </a:avLst>
          </a:prstGeom>
          <a:solidFill>
            <a:srgbClr val="FDF0EA"/>
          </a:solidFill>
          <a:ln w="12700">
            <a:solidFill>
              <a:srgbClr val="D9A08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4" name="Text 9"/>
          <p:cNvSpPr txBox="1"/>
          <p:nvPr/>
        </p:nvSpPr>
        <p:spPr>
          <a:xfrm>
            <a:off x="6601968" y="4745735"/>
            <a:ext cx="4809745" cy="652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</a:defRPr>
            </a:pPr>
            <a:r>
              <a:t>Binary porous media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Sphere pack + Berea scan with ~2-voxel features, smaller than any patch - tests the scale assumption.</a:t>
            </a:r>
          </a:p>
        </p:txBody>
      </p:sp>
      <p:sp>
        <p:nvSpPr>
          <p:cNvPr id="55" name="Text 10"/>
          <p:cNvSpPr txBox="1"/>
          <p:nvPr/>
        </p:nvSpPr>
        <p:spPr>
          <a:xfrm>
            <a:off x="548640" y="6584188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56" name="Text 11"/>
          <p:cNvSpPr txBox="1"/>
          <p:nvPr/>
        </p:nvSpPr>
        <p:spPr>
          <a:xfrm>
            <a:off x="11277295" y="6584188"/>
            <a:ext cx="365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 0"/>
          <p:cNvSpPr txBox="1"/>
          <p:nvPr/>
        </p:nvSpPr>
        <p:spPr>
          <a:xfrm>
            <a:off x="548639" y="362634"/>
            <a:ext cx="110642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</a:defRPr>
            </a:lvl1pPr>
          </a:lstStyle>
          <a:p>
            <a:pPr/>
            <a:r>
              <a:t>MECHANISM</a:t>
            </a:r>
          </a:p>
        </p:txBody>
      </p:sp>
      <p:sp>
        <p:nvSpPr>
          <p:cNvPr id="61" name="Text 1"/>
          <p:cNvSpPr txBox="1"/>
          <p:nvPr/>
        </p:nvSpPr>
        <p:spPr>
          <a:xfrm>
            <a:off x="548639" y="681227"/>
            <a:ext cx="1106424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Three requirements for effectiveness</a:t>
            </a:r>
          </a:p>
        </p:txBody>
      </p:sp>
      <p:sp>
        <p:nvSpPr>
          <p:cNvPr id="62" name="Shape 2"/>
          <p:cNvSpPr/>
          <p:nvPr/>
        </p:nvSpPr>
        <p:spPr>
          <a:xfrm>
            <a:off x="548640" y="1371600"/>
            <a:ext cx="5440680" cy="1508761"/>
          </a:xfrm>
          <a:prstGeom prst="roundRect">
            <a:avLst>
              <a:gd name="adj" fmla="val 5455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3" name="Text 3"/>
          <p:cNvSpPr txBox="1"/>
          <p:nvPr/>
        </p:nvSpPr>
        <p:spPr>
          <a:xfrm>
            <a:off x="749808" y="1517903"/>
            <a:ext cx="5038345" cy="652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</a:defRPr>
            </a:pPr>
            <a:r>
              <a:t>The nominal model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A coupled field of junctions: boundary- and color-consistency terms tie overlapping patches together, weighted by λ ramps over refinement iterations.</a:t>
            </a:r>
          </a:p>
        </p:txBody>
      </p:sp>
      <p:sp>
        <p:nvSpPr>
          <p:cNvPr id="64" name="Shape 4"/>
          <p:cNvSpPr/>
          <p:nvPr/>
        </p:nvSpPr>
        <p:spPr>
          <a:xfrm>
            <a:off x="6217920" y="1371600"/>
            <a:ext cx="5440680" cy="1508761"/>
          </a:xfrm>
          <a:prstGeom prst="roundRect">
            <a:avLst>
              <a:gd name="adj" fmla="val 5455"/>
            </a:avLst>
          </a:prstGeom>
          <a:solidFill>
            <a:srgbClr val="FBF3E4"/>
          </a:solidFill>
          <a:ln w="15875">
            <a:solidFill>
              <a:srgbClr val="F4A261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" name="Text 5"/>
          <p:cNvSpPr txBox="1"/>
          <p:nvPr/>
        </p:nvSpPr>
        <p:spPr>
          <a:xfrm>
            <a:off x="6419088" y="1517903"/>
            <a:ext cx="5038345" cy="842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500">
                <a:solidFill>
                  <a:srgbClr val="065A82"/>
                </a:solidFill>
              </a:defRPr>
            </a:pPr>
            <a:r>
              <a:t>What runs at the released defaults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With N_ref = 1 the consistency weights never engage, and the single refinement pass renders from pre-update parameters. Effectively: an independent wedge fit per patch + overlap averaging.</a:t>
            </a:r>
          </a:p>
        </p:txBody>
      </p:sp>
      <p:sp>
        <p:nvSpPr>
          <p:cNvPr id="66" name="Text 6"/>
          <p:cNvSpPr txBox="1"/>
          <p:nvPr/>
        </p:nvSpPr>
        <p:spPr>
          <a:xfrm>
            <a:off x="548639" y="3322759"/>
            <a:ext cx="11064242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300">
                <a:solidFill>
                  <a:srgbClr val="1B2A33"/>
                </a:solidFill>
              </a:defRPr>
            </a:lvl1pPr>
          </a:lstStyle>
          <a:p>
            <a:pPr/>
            <a:r>
              <a:t>Three requirements for FoJ to help:</a:t>
            </a:r>
          </a:p>
        </p:txBody>
      </p:sp>
      <p:sp>
        <p:nvSpPr>
          <p:cNvPr id="67" name="Shape 7"/>
          <p:cNvSpPr/>
          <p:nvPr/>
        </p:nvSpPr>
        <p:spPr>
          <a:xfrm>
            <a:off x="548640" y="3657600"/>
            <a:ext cx="3538729" cy="1965961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Text 8"/>
          <p:cNvSpPr txBox="1"/>
          <p:nvPr/>
        </p:nvSpPr>
        <p:spPr>
          <a:xfrm>
            <a:off x="749807" y="3803903"/>
            <a:ext cx="3136394" cy="10331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400">
                <a:solidFill>
                  <a:srgbClr val="065A82"/>
                </a:solidFill>
              </a:defRPr>
            </a:pPr>
            <a:r>
              <a:t>1 · Unbiased input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Region intensities are voxel means. A systematic offset in the input is reproduced, not removed e.g. clamping a CGLS reconstruction passes straight through.</a:t>
            </a:r>
          </a:p>
        </p:txBody>
      </p:sp>
      <p:sp>
        <p:nvSpPr>
          <p:cNvPr id="69" name="Shape 9"/>
          <p:cNvSpPr/>
          <p:nvPr/>
        </p:nvSpPr>
        <p:spPr>
          <a:xfrm>
            <a:off x="4315967" y="3657600"/>
            <a:ext cx="3538730" cy="1965961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0" name="Text 10"/>
          <p:cNvSpPr txBox="1"/>
          <p:nvPr/>
        </p:nvSpPr>
        <p:spPr>
          <a:xfrm>
            <a:off x="4517135" y="3803903"/>
            <a:ext cx="3136393" cy="842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400">
                <a:solidFill>
                  <a:srgbClr val="065A82"/>
                </a:solidFill>
              </a:defRPr>
            </a:pPr>
            <a:r>
              <a:t>2 · Structure ≥ patch scale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Wedges are piecewise-constant. Geometry finer than the patch, or smooth gradients, cannot be expressed as the fit collapses toward the mean.</a:t>
            </a:r>
          </a:p>
        </p:txBody>
      </p:sp>
      <p:sp>
        <p:nvSpPr>
          <p:cNvPr id="71" name="Shape 11"/>
          <p:cNvSpPr/>
          <p:nvPr/>
        </p:nvSpPr>
        <p:spPr>
          <a:xfrm>
            <a:off x="8083295" y="3657600"/>
            <a:ext cx="3538729" cy="1965961"/>
          </a:xfrm>
          <a:prstGeom prst="roundRect">
            <a:avLst>
              <a:gd name="adj" fmla="val 4186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Text 12"/>
          <p:cNvSpPr txBox="1"/>
          <p:nvPr/>
        </p:nvSpPr>
        <p:spPr>
          <a:xfrm>
            <a:off x="8284464" y="3803903"/>
            <a:ext cx="3136393" cy="842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400">
                <a:solidFill>
                  <a:srgbClr val="065A82"/>
                </a:solidFill>
              </a:defRPr>
            </a:pPr>
            <a:r>
              <a:t>3 · Noise above crossover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The wedge model is biased. It wins only when the noise it averages away costs more than the bias it introduces.</a:t>
            </a:r>
          </a:p>
        </p:txBody>
      </p:sp>
      <p:sp>
        <p:nvSpPr>
          <p:cNvPr id="73" name="Text 13"/>
          <p:cNvSpPr txBox="1"/>
          <p:nvPr/>
        </p:nvSpPr>
        <p:spPr>
          <a:xfrm>
            <a:off x="548640" y="6584188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74" name="Text 14"/>
          <p:cNvSpPr txBox="1"/>
          <p:nvPr/>
        </p:nvSpPr>
        <p:spPr>
          <a:xfrm>
            <a:off x="11277295" y="6584188"/>
            <a:ext cx="365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 txBox="1"/>
          <p:nvPr/>
        </p:nvSpPr>
        <p:spPr>
          <a:xfrm>
            <a:off x="548639" y="362634"/>
            <a:ext cx="110642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</a:defRPr>
            </a:lvl1pPr>
          </a:lstStyle>
          <a:p>
            <a:pPr/>
            <a:r>
              <a:t>REPRODUCTION</a:t>
            </a:r>
          </a:p>
        </p:txBody>
      </p:sp>
      <p:sp>
        <p:nvSpPr>
          <p:cNvPr id="79" name="Text 1"/>
          <p:cNvSpPr txBox="1"/>
          <p:nvPr/>
        </p:nvSpPr>
        <p:spPr>
          <a:xfrm>
            <a:off x="548639" y="681227"/>
            <a:ext cx="1106424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Step 0 - Reproduce the published benchmark</a:t>
            </a:r>
          </a:p>
        </p:txBody>
      </p:sp>
      <p:sp>
        <p:nvSpPr>
          <p:cNvPr id="80" name="Text 2"/>
          <p:cNvSpPr txBox="1"/>
          <p:nvPr/>
        </p:nvSpPr>
        <p:spPr>
          <a:xfrm>
            <a:off x="548639" y="1554479"/>
            <a:ext cx="5303522" cy="25515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</a:defRPr>
            </a:pPr>
            <a:r>
              <a:t>Sparse-view CT ablation: engine volume, 20 cone-beam views, P50 Poisson noise.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</a:defRPr>
            </a:pPr>
            <a:r>
              <a:t>Pipeline rebuilt end-to-end: R²-Gaussian benchmark + TIGRE projector + 60 CGLS iterations, then the released FoJ code.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</a:defRPr>
            </a:pPr>
            <a:r>
              <a:t>Qualitative result reproduces exactly: quality rises monotonically with patch size R, best at R = 12, with shrinking marginal gains.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</a:defRPr>
            </a:pPr>
            <a:r>
              <a:t>Absolute PSNR sits +1.2 to +3.4 dB above reported — consistent with the released M = 2 (vs. M = 3 in the paper) and unspecified reconstruction details.</a:t>
            </a:r>
          </a:p>
        </p:txBody>
      </p:sp>
      <p:graphicFrame>
        <p:nvGraphicFramePr>
          <p:cNvPr id="81" name="Table 0"/>
          <p:cNvGraphicFramePr/>
          <p:nvPr/>
        </p:nvGraphicFramePr>
        <p:xfrm>
          <a:off x="6309359" y="1600200"/>
          <a:ext cx="5212082" cy="2304289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2296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R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Reported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Δ (dB)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4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11.33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14.72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+3.39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14.37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16.93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+2.56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16.18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17.99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+1.81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10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17.17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18.58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+1.41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12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17.70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18.86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+1.16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2" name="Text 4"/>
          <p:cNvSpPr txBox="1"/>
          <p:nvPr/>
        </p:nvSpPr>
        <p:spPr>
          <a:xfrm>
            <a:off x="6309359" y="4069124"/>
            <a:ext cx="52120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</a:defRPr>
            </a:lvl1pPr>
          </a:lstStyle>
          <a:p>
            <a:pPr/>
            <a:r>
              <a:t>Engine-volume CT ablation — denoised PSNR vs. patch size R</a:t>
            </a:r>
          </a:p>
        </p:txBody>
      </p:sp>
      <p:sp>
        <p:nvSpPr>
          <p:cNvPr id="83" name="Text 5"/>
          <p:cNvSpPr txBox="1"/>
          <p:nvPr/>
        </p:nvSpPr>
        <p:spPr>
          <a:xfrm>
            <a:off x="6309359" y="4660899"/>
            <a:ext cx="5212081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400">
                <a:solidFill>
                  <a:srgbClr val="F4A261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+1.2 → +3.4 dB</a:t>
            </a:r>
          </a:p>
        </p:txBody>
      </p:sp>
      <p:sp>
        <p:nvSpPr>
          <p:cNvPr id="84" name="Text 6"/>
          <p:cNvSpPr txBox="1"/>
          <p:nvPr/>
        </p:nvSpPr>
        <p:spPr>
          <a:xfrm>
            <a:off x="6309359" y="5349240"/>
            <a:ext cx="521208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1B2A33"/>
                </a:solidFill>
              </a:defRPr>
            </a:lvl1pPr>
          </a:lstStyle>
          <a:p>
            <a:pPr/>
            <a:r>
              <a:t>ours above reported, gap narrows as R grows</a:t>
            </a:r>
          </a:p>
        </p:txBody>
      </p:sp>
      <p:sp>
        <p:nvSpPr>
          <p:cNvPr id="85" name="Text 7"/>
          <p:cNvSpPr txBox="1"/>
          <p:nvPr/>
        </p:nvSpPr>
        <p:spPr>
          <a:xfrm>
            <a:off x="548640" y="6584188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86" name="Text 8"/>
          <p:cNvSpPr txBox="1"/>
          <p:nvPr/>
        </p:nvSpPr>
        <p:spPr>
          <a:xfrm>
            <a:off x="11277295" y="6584188"/>
            <a:ext cx="365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 txBox="1"/>
          <p:nvPr/>
        </p:nvSpPr>
        <p:spPr>
          <a:xfrm>
            <a:off x="548639" y="362634"/>
            <a:ext cx="110642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</a:defRPr>
            </a:lvl1pPr>
          </a:lstStyle>
          <a:p>
            <a:pPr/>
            <a:r>
              <a:t>EXPERIMENT 1 · COMPATIBLE STRUCTURE + HIGH NOISE</a:t>
            </a:r>
          </a:p>
        </p:txBody>
      </p:sp>
      <p:sp>
        <p:nvSpPr>
          <p:cNvPr id="91" name="Text 1"/>
          <p:cNvSpPr txBox="1"/>
          <p:nvPr/>
        </p:nvSpPr>
        <p:spPr>
          <a:xfrm>
            <a:off x="548639" y="681227"/>
            <a:ext cx="1106424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Bentheim micro-CT: where FoJ wins</a:t>
            </a:r>
          </a:p>
        </p:txBody>
      </p:sp>
      <p:pic>
        <p:nvPicPr>
          <p:cNvPr id="92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066647" y="1325880"/>
            <a:ext cx="10058401" cy="1828801"/>
          </a:xfrm>
          <a:prstGeom prst="rect">
            <a:avLst/>
          </a:prstGeom>
          <a:ln w="12700">
            <a:miter lim="400000"/>
          </a:ln>
        </p:spPr>
      </p:pic>
      <p:sp>
        <p:nvSpPr>
          <p:cNvPr id="93" name="Text 2"/>
          <p:cNvSpPr txBox="1"/>
          <p:nvPr/>
        </p:nvSpPr>
        <p:spPr>
          <a:xfrm>
            <a:off x="548639" y="3269024"/>
            <a:ext cx="110642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</a:defRPr>
            </a:lvl1pPr>
          </a:lstStyle>
          <a:p>
            <a:pPr/>
            <a:r>
              <a:t>σ = 55% noise -&gt; FoJ keeps grain–pore interfaces sharp while Gaussian, median, and TV blur</a:t>
            </a:r>
          </a:p>
        </p:txBody>
      </p:sp>
      <p:graphicFrame>
        <p:nvGraphicFramePr>
          <p:cNvPr id="94" name="Table 0"/>
          <p:cNvGraphicFramePr/>
          <p:nvPr/>
        </p:nvGraphicFramePr>
        <p:xfrm>
          <a:off x="548640" y="3703320"/>
          <a:ext cx="5394960" cy="1920241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14400"/>
                <a:gridCol w="1280160"/>
                <a:gridCol w="173736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σ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Noisy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Best classical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FoJ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15%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16.89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28.51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26.55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30%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12.00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26.03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25.64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40%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10.28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23.39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24.93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55%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8.76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200">
                          <a:solidFill>
                            <a:srgbClr val="1B2A33"/>
                          </a:solidFill>
                        </a:rPr>
                        <a:t>21.05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>
                          <a:solidFill>
                            <a:srgbClr val="1C7293"/>
                          </a:solidFill>
                        </a:rPr>
                        <a:t>24.29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5" name="Text 3"/>
          <p:cNvSpPr txBox="1"/>
          <p:nvPr/>
        </p:nvSpPr>
        <p:spPr>
          <a:xfrm>
            <a:off x="548639" y="5737904"/>
            <a:ext cx="539496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</a:defRPr>
            </a:lvl1pPr>
          </a:lstStyle>
          <a:p>
            <a:pPr/>
            <a:r>
              <a:t>3D PSNR (dB), 192³ crop of Bentheim sandstone</a:t>
            </a:r>
          </a:p>
        </p:txBody>
      </p:sp>
      <p:sp>
        <p:nvSpPr>
          <p:cNvPr id="96" name="Text 4"/>
          <p:cNvSpPr txBox="1"/>
          <p:nvPr/>
        </p:nvSpPr>
        <p:spPr>
          <a:xfrm>
            <a:off x="6400799" y="3684270"/>
            <a:ext cx="512064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800">
                <a:solidFill>
                  <a:srgbClr val="F4A261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+3.24 dB</a:t>
            </a:r>
          </a:p>
        </p:txBody>
      </p:sp>
      <p:sp>
        <p:nvSpPr>
          <p:cNvPr id="97" name="Text 5"/>
          <p:cNvSpPr txBox="1"/>
          <p:nvPr/>
        </p:nvSpPr>
        <p:spPr>
          <a:xfrm>
            <a:off x="6400799" y="4480559"/>
            <a:ext cx="512064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1B2A33"/>
                </a:solidFill>
              </a:defRPr>
            </a:lvl1pPr>
          </a:lstStyle>
          <a:p>
            <a:pPr/>
            <a:r>
              <a:t>FoJ over the best classical filter at σ = 55%</a:t>
            </a:r>
          </a:p>
        </p:txBody>
      </p:sp>
      <p:sp>
        <p:nvSpPr>
          <p:cNvPr id="98" name="Text 6"/>
          <p:cNvSpPr txBox="1"/>
          <p:nvPr/>
        </p:nvSpPr>
        <p:spPr>
          <a:xfrm>
            <a:off x="6400799" y="5234940"/>
            <a:ext cx="512064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000">
                <a:solidFill>
                  <a:srgbClr val="F4A261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≈ 11 dB</a:t>
            </a:r>
          </a:p>
        </p:txBody>
      </p:sp>
      <p:sp>
        <p:nvSpPr>
          <p:cNvPr id="99" name="Text 7"/>
          <p:cNvSpPr txBox="1"/>
          <p:nvPr/>
        </p:nvSpPr>
        <p:spPr>
          <a:xfrm>
            <a:off x="6400799" y="5897879"/>
            <a:ext cx="5120642" cy="3473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1B2A33"/>
                </a:solidFill>
              </a:defRPr>
            </a:lvl1pPr>
          </a:lstStyle>
          <a:p>
            <a:pPr/>
            <a:r>
              <a:t>input-PSNR crossover — below this, the wedge prior pays off; above it, classical filters win</a:t>
            </a:r>
          </a:p>
        </p:txBody>
      </p:sp>
      <p:sp>
        <p:nvSpPr>
          <p:cNvPr id="100" name="Text 8"/>
          <p:cNvSpPr txBox="1"/>
          <p:nvPr/>
        </p:nvSpPr>
        <p:spPr>
          <a:xfrm>
            <a:off x="548640" y="6584188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101" name="Text 9"/>
          <p:cNvSpPr txBox="1"/>
          <p:nvPr/>
        </p:nvSpPr>
        <p:spPr>
          <a:xfrm>
            <a:off x="11277295" y="6584188"/>
            <a:ext cx="365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 txBox="1"/>
          <p:nvPr/>
        </p:nvSpPr>
        <p:spPr>
          <a:xfrm>
            <a:off x="548639" y="362634"/>
            <a:ext cx="110642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</a:defRPr>
            </a:lvl1pPr>
          </a:lstStyle>
          <a:p>
            <a:pPr/>
            <a:r>
              <a:t>EXPERIMENT 2 · VIOLATES PIECEWISE FLATNESS</a:t>
            </a:r>
          </a:p>
        </p:txBody>
      </p:sp>
      <p:sp>
        <p:nvSpPr>
          <p:cNvPr id="106" name="Text 1"/>
          <p:cNvSpPr txBox="1"/>
          <p:nvPr/>
        </p:nvSpPr>
        <p:spPr>
          <a:xfrm>
            <a:off x="548639" y="681227"/>
            <a:ext cx="1106424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BrainWeb MRI: where FoJ fails due to smooth texture</a:t>
            </a:r>
          </a:p>
        </p:txBody>
      </p:sp>
      <p:sp>
        <p:nvSpPr>
          <p:cNvPr id="107" name="Text 2"/>
          <p:cNvSpPr txBox="1"/>
          <p:nvPr/>
        </p:nvSpPr>
        <p:spPr>
          <a:xfrm>
            <a:off x="548639" y="1554479"/>
            <a:ext cx="5760722" cy="2094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</a:defRPr>
            </a:pPr>
            <a:r>
              <a:t>BrainWeb T1 phantom (181×217×181), Rician noise σ = 3–13%.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</a:defRPr>
            </a:pPr>
            <a:r>
              <a:t>Tissue gradients are smooth, so constant wedges quantize them into steps — model bias at every noise level.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</a:defRPr>
            </a:pPr>
            <a:r>
              <a:t>FoJ trails the 3³ median filter at all five levels; larger patches only make it worse.</a:t>
            </a:r>
          </a:p>
          <a:p>
            <a:pPr marL="177800" indent="-177800">
              <a:spcBef>
                <a:spcPts val="1400"/>
              </a:spcBef>
              <a:buSzPct val="100000"/>
              <a:buChar char="•"/>
              <a:defRPr sz="1400">
                <a:solidFill>
                  <a:srgbClr val="1B2A33"/>
                </a:solidFill>
              </a:defRPr>
            </a:pPr>
            <a:r>
              <a:t>Same story in reconstruction: as a plug-and-play denoiser, FoJ-PnP reaches 27.99 dB vs. 30.39 dB for TV-PnP at 4× undersampling.</a:t>
            </a:r>
          </a:p>
        </p:txBody>
      </p:sp>
      <p:graphicFrame>
        <p:nvGraphicFramePr>
          <p:cNvPr id="108" name="Table 0"/>
          <p:cNvGraphicFramePr/>
          <p:nvPr/>
        </p:nvGraphicFramePr>
        <p:xfrm>
          <a:off x="548640" y="4572000"/>
          <a:ext cx="4754881" cy="124358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14400"/>
                <a:gridCol w="1280160"/>
                <a:gridCol w="128016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σ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Median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FoJ R=6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solidFill>
                      <a:srgbClr val="065A8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3%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30.80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25.67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1C7293"/>
                          </a:solidFill>
                        </a:rPr>
                        <a:t>−5.13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7%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24.58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22.52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1C7293"/>
                          </a:solidFill>
                        </a:rPr>
                        <a:t>−2.06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13%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19.28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sz="1100">
                          <a:solidFill>
                            <a:srgbClr val="1B2A33"/>
                          </a:solidFill>
                        </a:rPr>
                        <a:t>18.31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100">
                          <a:solidFill>
                            <a:srgbClr val="1C7293"/>
                          </a:solidFill>
                        </a:rPr>
                        <a:t>−0.97</a:t>
                      </a:r>
                    </a:p>
                  </a:txBody>
                  <a:tcPr marL="45720" marR="45720" marT="45720" marB="45720" anchor="ctr" anchorCtr="0" horzOverflow="overflow">
                    <a:lnL>
                      <a:solidFill>
                        <a:srgbClr val="C9D5DE"/>
                      </a:solidFill>
                    </a:lnL>
                    <a:lnR>
                      <a:solidFill>
                        <a:srgbClr val="C9D5DE"/>
                      </a:solidFill>
                    </a:lnR>
                    <a:lnT>
                      <a:solidFill>
                        <a:srgbClr val="C9D5DE"/>
                      </a:solidFill>
                    </a:lnT>
                    <a:lnB>
                      <a:solidFill>
                        <a:srgbClr val="C9D5DE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9" name="Text 4"/>
          <p:cNvSpPr txBox="1"/>
          <p:nvPr/>
        </p:nvSpPr>
        <p:spPr>
          <a:xfrm>
            <a:off x="6949440" y="1795780"/>
            <a:ext cx="4572001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400">
                <a:solidFill>
                  <a:srgbClr val="C4452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−5.13 dB</a:t>
            </a:r>
          </a:p>
        </p:txBody>
      </p:sp>
      <p:sp>
        <p:nvSpPr>
          <p:cNvPr id="110" name="Text 5"/>
          <p:cNvSpPr txBox="1"/>
          <p:nvPr/>
        </p:nvSpPr>
        <p:spPr>
          <a:xfrm>
            <a:off x="6949440" y="2560320"/>
            <a:ext cx="45720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1B2A33"/>
                </a:solidFill>
              </a:defRPr>
            </a:lvl1pPr>
          </a:lstStyle>
          <a:p>
            <a:pPr/>
            <a:r>
              <a:t>FoJ R=6 vs. median filter at σ = 3% — below the noisy input itself</a:t>
            </a:r>
          </a:p>
        </p:txBody>
      </p:sp>
      <p:sp>
        <p:nvSpPr>
          <p:cNvPr id="111" name="Text 6"/>
          <p:cNvSpPr txBox="1"/>
          <p:nvPr/>
        </p:nvSpPr>
        <p:spPr>
          <a:xfrm>
            <a:off x="6949440" y="3853179"/>
            <a:ext cx="4572001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4400">
                <a:solidFill>
                  <a:srgbClr val="C4452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 / 5</a:t>
            </a:r>
          </a:p>
        </p:txBody>
      </p:sp>
      <p:sp>
        <p:nvSpPr>
          <p:cNvPr id="112" name="Text 7"/>
          <p:cNvSpPr txBox="1"/>
          <p:nvPr/>
        </p:nvSpPr>
        <p:spPr>
          <a:xfrm>
            <a:off x="6949440" y="4617720"/>
            <a:ext cx="45720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z="1200">
                <a:solidFill>
                  <a:srgbClr val="1B2A33"/>
                </a:solidFill>
              </a:defRPr>
            </a:lvl1pPr>
          </a:lstStyle>
          <a:p>
            <a:pPr/>
            <a:r>
              <a:t>noise levels where FoJ beats any classical baseline on MRI</a:t>
            </a:r>
          </a:p>
        </p:txBody>
      </p:sp>
      <p:sp>
        <p:nvSpPr>
          <p:cNvPr id="113" name="Text 8"/>
          <p:cNvSpPr txBox="1"/>
          <p:nvPr/>
        </p:nvSpPr>
        <p:spPr>
          <a:xfrm>
            <a:off x="548640" y="6584188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114" name="Text 9"/>
          <p:cNvSpPr txBox="1"/>
          <p:nvPr/>
        </p:nvSpPr>
        <p:spPr>
          <a:xfrm>
            <a:off x="11277295" y="6584188"/>
            <a:ext cx="365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 txBox="1"/>
          <p:nvPr/>
        </p:nvSpPr>
        <p:spPr>
          <a:xfrm>
            <a:off x="548639" y="362634"/>
            <a:ext cx="110642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</a:defRPr>
            </a:lvl1pPr>
          </a:lstStyle>
          <a:p>
            <a:pPr/>
            <a:r>
              <a:t>EXPERIMENT 3 · VIOLATES STRUCTURE SCALE</a:t>
            </a:r>
          </a:p>
        </p:txBody>
      </p:sp>
      <p:sp>
        <p:nvSpPr>
          <p:cNvPr id="119" name="Text 1"/>
          <p:cNvSpPr txBox="1"/>
          <p:nvPr/>
        </p:nvSpPr>
        <p:spPr>
          <a:xfrm>
            <a:off x="548639" y="681227"/>
            <a:ext cx="1106424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Binary porous media: where FoJ fails due to sub-patch features</a:t>
            </a:r>
          </a:p>
        </p:txBody>
      </p:sp>
      <p:pic>
        <p:nvPicPr>
          <p:cNvPr id="120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981048" y="1463039"/>
            <a:ext cx="8229601" cy="2743201"/>
          </a:xfrm>
          <a:prstGeom prst="rect">
            <a:avLst/>
          </a:prstGeom>
          <a:ln w="12700">
            <a:miter lim="400000"/>
          </a:ln>
        </p:spPr>
      </p:pic>
      <p:sp>
        <p:nvSpPr>
          <p:cNvPr id="121" name="Text 2"/>
          <p:cNvSpPr txBox="1"/>
          <p:nvPr/>
        </p:nvSpPr>
        <p:spPr>
          <a:xfrm>
            <a:off x="548639" y="4366304"/>
            <a:ext cx="110642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</a:defRPr>
            </a:lvl1pPr>
          </a:lstStyle>
          <a:p>
            <a:pPr/>
            <a:r>
              <a:t>Berea, σ = 15%: binary ground truth (left) → FoJ output (right) collapses toward the volume mean</a:t>
            </a:r>
          </a:p>
        </p:txBody>
      </p:sp>
      <p:sp>
        <p:nvSpPr>
          <p:cNvPr id="122" name="Shape 3"/>
          <p:cNvSpPr/>
          <p:nvPr/>
        </p:nvSpPr>
        <p:spPr>
          <a:xfrm>
            <a:off x="548640" y="4709159"/>
            <a:ext cx="3538729" cy="1600201"/>
          </a:xfrm>
          <a:prstGeom prst="roundRect">
            <a:avLst>
              <a:gd name="adj" fmla="val 5143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3" name="Text 4"/>
          <p:cNvSpPr txBox="1"/>
          <p:nvPr/>
        </p:nvSpPr>
        <p:spPr>
          <a:xfrm>
            <a:off x="749807" y="4855464"/>
            <a:ext cx="3136394" cy="677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600">
                <a:solidFill>
                  <a:srgbClr val="065A82"/>
                </a:solidFill>
              </a:defRPr>
            </a:pPr>
            <a:r>
              <a:t>19.5 → 7.1 dB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FoJ scores below the noisy input — denoising destroys the signal it should keep.</a:t>
            </a:r>
          </a:p>
        </p:txBody>
      </p:sp>
      <p:sp>
        <p:nvSpPr>
          <p:cNvPr id="124" name="Shape 5"/>
          <p:cNvSpPr/>
          <p:nvPr/>
        </p:nvSpPr>
        <p:spPr>
          <a:xfrm>
            <a:off x="4315967" y="4709159"/>
            <a:ext cx="3538730" cy="1600201"/>
          </a:xfrm>
          <a:prstGeom prst="roundRect">
            <a:avLst>
              <a:gd name="adj" fmla="val 5143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5" name="Text 6"/>
          <p:cNvSpPr txBox="1"/>
          <p:nvPr/>
        </p:nvSpPr>
        <p:spPr>
          <a:xfrm>
            <a:off x="4517135" y="4855464"/>
            <a:ext cx="3136393" cy="677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600">
                <a:solidFill>
                  <a:srgbClr val="065A82"/>
                </a:solidFill>
              </a:defRPr>
            </a:pPr>
            <a:r>
              <a:t>σ 0.49 → 0.09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Output intensity spread shrinks 5×: the volume comes out nearly flat.</a:t>
            </a:r>
          </a:p>
        </p:txBody>
      </p:sp>
      <p:sp>
        <p:nvSpPr>
          <p:cNvPr id="126" name="Shape 7"/>
          <p:cNvSpPr/>
          <p:nvPr/>
        </p:nvSpPr>
        <p:spPr>
          <a:xfrm>
            <a:off x="8083295" y="4709159"/>
            <a:ext cx="3538729" cy="1600201"/>
          </a:xfrm>
          <a:prstGeom prst="roundRect">
            <a:avLst>
              <a:gd name="adj" fmla="val 5143"/>
            </a:avLst>
          </a:prstGeom>
          <a:solidFill>
            <a:srgbClr val="EEF3F7"/>
          </a:solidFill>
          <a:ln w="12700">
            <a:solidFill>
              <a:srgbClr val="D5DEE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7" name="Text 8"/>
          <p:cNvSpPr txBox="1"/>
          <p:nvPr/>
        </p:nvSpPr>
        <p:spPr>
          <a:xfrm>
            <a:off x="8284464" y="4855464"/>
            <a:ext cx="3136393" cy="8680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spcBef>
                <a:spcPts val="600"/>
              </a:spcBef>
              <a:defRPr b="1" sz="1600">
                <a:solidFill>
                  <a:srgbClr val="065A82"/>
                </a:solidFill>
              </a:defRPr>
            </a:pPr>
            <a:r>
              <a:t>Why</a:t>
            </a:r>
          </a:p>
          <a:p>
            <a:pPr>
              <a:spcBef>
                <a:spcPts val="600"/>
              </a:spcBef>
              <a:defRPr sz="1200">
                <a:solidFill>
                  <a:srgbClr val="1B2A33"/>
                </a:solidFill>
              </a:defRPr>
            </a:pPr>
            <a:r>
              <a:t>Features are ~2 voxels; three planes through one vertex can't isolate dozens of pores in an R³ patch, so every wedge mean ≈ global mean.</a:t>
            </a:r>
          </a:p>
        </p:txBody>
      </p:sp>
      <p:sp>
        <p:nvSpPr>
          <p:cNvPr id="128" name="Text 9"/>
          <p:cNvSpPr txBox="1"/>
          <p:nvPr/>
        </p:nvSpPr>
        <p:spPr>
          <a:xfrm>
            <a:off x="548640" y="6584188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129" name="Text 10"/>
          <p:cNvSpPr txBox="1"/>
          <p:nvPr/>
        </p:nvSpPr>
        <p:spPr>
          <a:xfrm>
            <a:off x="11277295" y="6584188"/>
            <a:ext cx="365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 txBox="1"/>
          <p:nvPr/>
        </p:nvSpPr>
        <p:spPr>
          <a:xfrm>
            <a:off x="548639" y="362634"/>
            <a:ext cx="1106424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100">
                <a:solidFill>
                  <a:srgbClr val="1C7293"/>
                </a:solidFill>
              </a:defRPr>
            </a:lvl1pPr>
          </a:lstStyle>
          <a:p>
            <a:pPr/>
            <a:r>
              <a:t>CONCLUSION</a:t>
            </a:r>
          </a:p>
        </p:txBody>
      </p:sp>
      <p:sp>
        <p:nvSpPr>
          <p:cNvPr id="134" name="Text 1"/>
          <p:cNvSpPr txBox="1"/>
          <p:nvPr/>
        </p:nvSpPr>
        <p:spPr>
          <a:xfrm>
            <a:off x="548639" y="681227"/>
            <a:ext cx="1106424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Explanation of all three outcomes</a:t>
            </a:r>
          </a:p>
        </p:txBody>
      </p:sp>
      <p:pic>
        <p:nvPicPr>
          <p:cNvPr id="135" name="Image 0" descr="Image 0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537959" y="1600200"/>
            <a:ext cx="5074921" cy="3137224"/>
          </a:xfrm>
          <a:prstGeom prst="rect">
            <a:avLst/>
          </a:prstGeom>
          <a:ln w="12700">
            <a:miter lim="400000"/>
          </a:ln>
        </p:spPr>
      </p:pic>
      <p:sp>
        <p:nvSpPr>
          <p:cNvPr id="136" name="Text 2"/>
          <p:cNvSpPr txBox="1"/>
          <p:nvPr/>
        </p:nvSpPr>
        <p:spPr>
          <a:xfrm>
            <a:off x="6537959" y="4892084"/>
            <a:ext cx="507492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 sz="1000">
                <a:solidFill>
                  <a:srgbClr val="5E7183"/>
                </a:solidFill>
              </a:defRPr>
            </a:lvl1pPr>
          </a:lstStyle>
          <a:p>
            <a:pPr/>
            <a:r>
              <a:t>FoJ margin (PSNR − best classical) vs. input PSNR across domains</a:t>
            </a:r>
          </a:p>
        </p:txBody>
      </p:sp>
      <p:sp>
        <p:nvSpPr>
          <p:cNvPr id="137" name="Text 3"/>
          <p:cNvSpPr txBox="1"/>
          <p:nvPr/>
        </p:nvSpPr>
        <p:spPr>
          <a:xfrm>
            <a:off x="548640" y="1666941"/>
            <a:ext cx="5669280" cy="1865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500">
                <a:solidFill>
                  <a:srgbClr val="065A82"/>
                </a:solidFill>
              </a:defRPr>
            </a:lvl1pPr>
          </a:lstStyle>
          <a:p>
            <a:pPr/>
            <a:r>
              <a:t>FoJ helps only when all three hold:</a:t>
            </a:r>
          </a:p>
        </p:txBody>
      </p:sp>
      <p:sp>
        <p:nvSpPr>
          <p:cNvPr id="138" name="Text 4"/>
          <p:cNvSpPr txBox="1"/>
          <p:nvPr/>
        </p:nvSpPr>
        <p:spPr>
          <a:xfrm>
            <a:off x="685800" y="2011679"/>
            <a:ext cx="5669280" cy="750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177800" indent="-177800">
              <a:spcBef>
                <a:spcPts val="700"/>
              </a:spcBef>
              <a:buSzPct val="100000"/>
              <a:buChar char="•"/>
              <a:defRPr sz="1300">
                <a:solidFill>
                  <a:srgbClr val="1B2A33"/>
                </a:solidFill>
              </a:defRPr>
            </a:pPr>
            <a:r>
              <a:t>unbiased input (means reproduce offsets),</a:t>
            </a:r>
          </a:p>
          <a:p>
            <a:pPr marL="177800" indent="-177800">
              <a:spcBef>
                <a:spcPts val="700"/>
              </a:spcBef>
              <a:buSzPct val="100000"/>
              <a:buChar char="•"/>
              <a:defRPr sz="1300">
                <a:solidFill>
                  <a:srgbClr val="1B2A33"/>
                </a:solidFill>
              </a:defRPr>
            </a:pPr>
            <a:r>
              <a:t>piecewise-flat structure at ≥ patch scale,</a:t>
            </a:r>
          </a:p>
          <a:p>
            <a:pPr marL="177800" indent="-177800">
              <a:spcBef>
                <a:spcPts val="700"/>
              </a:spcBef>
              <a:buSzPct val="100000"/>
              <a:buChar char="•"/>
              <a:defRPr sz="1300">
                <a:solidFill>
                  <a:srgbClr val="1B2A33"/>
                </a:solidFill>
              </a:defRPr>
            </a:pPr>
            <a:r>
              <a:t>noise high enough to pay for the wedge bias.</a:t>
            </a:r>
          </a:p>
        </p:txBody>
      </p:sp>
      <p:sp>
        <p:nvSpPr>
          <p:cNvPr id="139" name="Text 5"/>
          <p:cNvSpPr txBox="1"/>
          <p:nvPr/>
        </p:nvSpPr>
        <p:spPr>
          <a:xfrm>
            <a:off x="548640" y="3611879"/>
            <a:ext cx="5669280" cy="15513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300">
                <a:solidFill>
                  <a:srgbClr val="2E9E5B"/>
                </a:solidFill>
              </a:defRPr>
            </a:pPr>
            <a:r>
              <a:t>✓ Bentheim micro-CT</a:t>
            </a:r>
          </a:p>
          <a:p>
            <a:pPr>
              <a:spcBef>
                <a:spcPts val="1200"/>
              </a:spcBef>
              <a:defRPr sz="1300">
                <a:solidFill>
                  <a:srgbClr val="1B2A33"/>
                </a:solidFill>
              </a:defRPr>
            </a:pPr>
            <a:r>
              <a:t>   piecewise-flat grains &gt; patch + input &lt; 11 dB → best method (+3.2 dB)</a:t>
            </a:r>
          </a:p>
          <a:p>
            <a:pPr>
              <a:defRPr b="1" sz="1300">
                <a:solidFill>
                  <a:srgbClr val="C4452F"/>
                </a:solidFill>
              </a:defRPr>
            </a:pPr>
            <a:r>
              <a:t>✗ BrainWeb MRI</a:t>
            </a:r>
          </a:p>
          <a:p>
            <a:pPr>
              <a:spcBef>
                <a:spcPts val="1200"/>
              </a:spcBef>
              <a:defRPr sz="1300">
                <a:solidFill>
                  <a:srgbClr val="1B2A33"/>
                </a:solidFill>
              </a:defRPr>
            </a:pPr>
            <a:r>
              <a:t>   smooth gradients violate flatness → loses at every noise level</a:t>
            </a:r>
          </a:p>
          <a:p>
            <a:pPr>
              <a:defRPr b="1" sz="1300">
                <a:solidFill>
                  <a:srgbClr val="C4452F"/>
                </a:solidFill>
              </a:defRPr>
            </a:pPr>
            <a:r>
              <a:t>✗ Binary porous media</a:t>
            </a:r>
          </a:p>
          <a:p>
            <a:pPr>
              <a:defRPr sz="1300">
                <a:solidFill>
                  <a:srgbClr val="1B2A33"/>
                </a:solidFill>
              </a:defRPr>
            </a:pPr>
            <a:r>
              <a:t>   ~2-voxel features &lt; patch → collapses to the mean</a:t>
            </a:r>
          </a:p>
        </p:txBody>
      </p:sp>
      <p:sp>
        <p:nvSpPr>
          <p:cNvPr id="140" name="Text 6"/>
          <p:cNvSpPr txBox="1"/>
          <p:nvPr/>
        </p:nvSpPr>
        <p:spPr>
          <a:xfrm>
            <a:off x="548640" y="6584188"/>
            <a:ext cx="36576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3D FoJ · Section C Team 17</a:t>
            </a:r>
          </a:p>
        </p:txBody>
      </p:sp>
      <p:sp>
        <p:nvSpPr>
          <p:cNvPr id="141" name="Text 7"/>
          <p:cNvSpPr txBox="1"/>
          <p:nvPr/>
        </p:nvSpPr>
        <p:spPr>
          <a:xfrm>
            <a:off x="11277295" y="6584188"/>
            <a:ext cx="3657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5E7183"/>
                </a:solidFill>
              </a:defRPr>
            </a:lvl1pPr>
          </a:lstStyle>
          <a:p>
            <a:pPr/>
            <a:r>
              <a:t>9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 txBox="1"/>
          <p:nvPr/>
        </p:nvSpPr>
        <p:spPr>
          <a:xfrm>
            <a:off x="731519" y="843279"/>
            <a:ext cx="10728657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34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Takeaways</a:t>
            </a:r>
          </a:p>
        </p:txBody>
      </p:sp>
      <p:sp>
        <p:nvSpPr>
          <p:cNvPr id="146" name="Text 1"/>
          <p:cNvSpPr txBox="1"/>
          <p:nvPr/>
        </p:nvSpPr>
        <p:spPr>
          <a:xfrm>
            <a:off x="731519" y="1799416"/>
            <a:ext cx="10728657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i="1">
                <a:solidFill>
                  <a:srgbClr val="F4A261"/>
                </a:solidFill>
              </a:defRPr>
            </a:lvl1pPr>
          </a:lstStyle>
          <a:p>
            <a:pPr/>
            <a:r>
              <a:t>3D FoJ is a structural prior, not a universal denoiser.</a:t>
            </a:r>
          </a:p>
        </p:txBody>
      </p:sp>
      <p:sp>
        <p:nvSpPr>
          <p:cNvPr id="147" name="Text 2"/>
          <p:cNvSpPr txBox="1"/>
          <p:nvPr/>
        </p:nvSpPr>
        <p:spPr>
          <a:xfrm>
            <a:off x="1371599" y="2514599"/>
            <a:ext cx="9448497" cy="4151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F4A261"/>
                </a:solidFill>
              </a:defRPr>
            </a:pPr>
            <a:r>
              <a:t>It wins </a:t>
            </a:r>
            <a:r>
              <a:rPr b="0">
                <a:solidFill>
                  <a:srgbClr val="C9D4E8"/>
                </a:solidFill>
              </a:rPr>
              <a:t>where structure is piecewise-flat at patch scale and noise is severe like Bentheim micro-CT at 8.8 dB input: +3.2 dB over every classical filter.</a:t>
            </a:r>
          </a:p>
        </p:txBody>
      </p:sp>
      <p:sp>
        <p:nvSpPr>
          <p:cNvPr id="148" name="Text 3"/>
          <p:cNvSpPr txBox="1"/>
          <p:nvPr/>
        </p:nvSpPr>
        <p:spPr>
          <a:xfrm>
            <a:off x="1371599" y="3474720"/>
            <a:ext cx="9448497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F4A261"/>
                </a:solidFill>
              </a:defRPr>
            </a:pPr>
            <a:r>
              <a:t>It loses </a:t>
            </a:r>
            <a:r>
              <a:rPr b="0">
                <a:solidFill>
                  <a:srgbClr val="C9D4E8"/>
                </a:solidFill>
              </a:rPr>
              <a:t>where gradients are smooth (MRI) or features are finer than a patch (binary media). Classical filters are better and cheaper.</a:t>
            </a:r>
          </a:p>
        </p:txBody>
      </p:sp>
      <p:sp>
        <p:nvSpPr>
          <p:cNvPr id="149" name="Text 4"/>
          <p:cNvSpPr txBox="1"/>
          <p:nvPr/>
        </p:nvSpPr>
        <p:spPr>
          <a:xfrm>
            <a:off x="1371599" y="4434840"/>
            <a:ext cx="9448497" cy="415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1500">
                <a:solidFill>
                  <a:srgbClr val="F4A261"/>
                </a:solidFill>
              </a:defRPr>
            </a:pPr>
            <a:r>
              <a:t>Before adopting it </a:t>
            </a:r>
            <a:r>
              <a:rPr b="0">
                <a:solidFill>
                  <a:srgbClr val="C9D4E8"/>
                </a:solidFill>
              </a:rPr>
              <a:t>check three things: is the input unbiased, is the structure expressible at patch scale, and is the noise above the crossover.</a:t>
            </a:r>
          </a:p>
        </p:txBody>
      </p:sp>
      <p:sp>
        <p:nvSpPr>
          <p:cNvPr id="150" name="Text 5"/>
          <p:cNvSpPr txBox="1"/>
          <p:nvPr/>
        </p:nvSpPr>
        <p:spPr>
          <a:xfrm>
            <a:off x="731519" y="5701863"/>
            <a:ext cx="10728657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github.com/samudraneel05/SectionC_Team17</a:t>
            </a:r>
          </a:p>
        </p:txBody>
      </p:sp>
      <p:sp>
        <p:nvSpPr>
          <p:cNvPr id="151" name="Text 6"/>
          <p:cNvSpPr txBox="1"/>
          <p:nvPr/>
        </p:nvSpPr>
        <p:spPr>
          <a:xfrm>
            <a:off x="731519" y="6111679"/>
            <a:ext cx="10728657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z="1300">
                <a:solidFill>
                  <a:srgbClr val="8FA8C8"/>
                </a:solidFill>
              </a:defRPr>
            </a:lvl1pPr>
          </a:lstStyle>
          <a:p>
            <a:pPr/>
            <a:r>
              <a:t>Thank you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